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  <a:latin typeface="Calibri Light"/>
              </a:defRPr>
            </a:pPr>
            <a:r>
              <a:t>MONEY MANAGER JAVA SUITE</a:t>
            </a:r>
          </a:p>
          <a:p>
            <a:pPr>
              <a:spcBef>
                <a:spcPts val="800"/>
              </a:spcBef>
              <a:defRPr sz="2000" i="1">
                <a:solidFill>
                  <a:srgbClr val="2F5597"/>
                </a:solidFill>
                <a:latin typeface="Calibri"/>
              </a:defRPr>
            </a:pPr>
            <a:r>
              <a:t>JavaFX Desktop &amp; Spring Boot Web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2B2B"/>
                </a:solidFill>
                <a:latin typeface="Calibri"/>
              </a:defRPr>
            </a:pPr>
            <a:r>
              <a:t>System Architecture &amp; SOLID Requirements Specification</a:t>
            </a:r>
          </a:p>
          <a:p>
            <a:pPr>
              <a:spcBef>
                <a:spcPts val="400"/>
              </a:spcBef>
              <a:defRPr sz="1200">
                <a:solidFill>
                  <a:srgbClr val="595959"/>
                </a:solidFill>
                <a:latin typeface="Calibri"/>
              </a:defRPr>
            </a:pPr>
            <a:r>
              <a:t>Platform: Java 21 LTS  •  Databases: SQLite / PostgreSQL</a:t>
            </a:r>
            <a:br/>
            <a:r>
              <a:t>Document Version: 1.0  •  Status: Approved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F4E79"/>
                </a:solidFill>
                <a:latin typeface="Calibri"/>
              </a:defRPr>
            </a:pPr>
            <a:r>
              <a:t>1. Project Overview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Unified Personal Finance Suite: </a:t>
            </a:r>
            <a:r>
              <a:rPr b="0" sz="1600">
                <a:solidFill>
                  <a:srgbClr val="2B2B2B"/>
                </a:solidFill>
                <a:latin typeface="Calibri"/>
              </a:rPr>
              <a:t>Synchronizes desktop workstation utility with multi-screen enterprise web capabilities.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JavaFX Desktop Client: </a:t>
            </a:r>
            <a:r>
              <a:rPr b="0" sz="1600">
                <a:solidFill>
                  <a:srgbClr val="2B2B2B"/>
                </a:solidFill>
                <a:latin typeface="Calibri"/>
              </a:rPr>
              <a:t>Standalone, offline-first application running on Java 21 LTS with data persisted in embedded SQLite database engines.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Spring Boot Web Client: </a:t>
            </a:r>
            <a:r>
              <a:rPr b="0" sz="1600">
                <a:solidFill>
                  <a:srgbClr val="2B2B2B"/>
                </a:solidFill>
                <a:latin typeface="Calibri"/>
              </a:rPr>
              <a:t>High-concurrency web application powered by Java 21, Spring Boot 4.0.6, Thymeleaf layouts, and PostgreSQL.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Core Capabilities: </a:t>
            </a:r>
            <a:r>
              <a:rPr b="0" sz="1600">
                <a:solidFill>
                  <a:srgbClr val="2B2B2B"/>
                </a:solidFill>
                <a:latin typeface="Calibri"/>
              </a:rPr>
              <a:t>Secure user profiles, transaction logs, relational category budgets with amber/red progress warnings, savings milestones, and notes lists.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F4E79"/>
                </a:solidFill>
                <a:latin typeface="Calibri"/>
              </a:defRPr>
            </a:pPr>
            <a:r>
              <a:t>2. 3-Tier Architecture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Presentation Tier: </a:t>
            </a:r>
            <a:r>
              <a:rPr b="0" sz="1600">
                <a:solidFill>
                  <a:srgbClr val="2B2B2B"/>
                </a:solidFill>
                <a:latin typeface="Calibri"/>
              </a:rPr>
              <a:t>JavaFX FXML layouts &amp; controllers (Desktop) and Spring WebMVC controllers mapping reactive Thymeleaf views (Web).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Business Service Tier: </a:t>
            </a:r>
            <a:r>
              <a:rPr b="0" sz="1600">
                <a:solidFill>
                  <a:srgbClr val="2B2B2B"/>
                </a:solidFill>
                <a:latin typeface="Calibri"/>
              </a:rPr>
              <a:t>Core services (TransactionService, BudgetService, AuthService) managing rules, password checks, and validations, independent of GUI structures.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Relational Repository Tier: </a:t>
            </a:r>
            <a:r>
              <a:rPr b="0" sz="1600">
                <a:solidFill>
                  <a:srgbClr val="2B2B2B"/>
                </a:solidFill>
                <a:latin typeface="Calibri"/>
              </a:rPr>
              <a:t>JDBC-based database repositories (JdbcTransactionRepo, JdbcUserRepo) executing statements directly to target databases.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Interchangeable Connections: </a:t>
            </a:r>
            <a:r>
              <a:rPr b="0" sz="1600">
                <a:solidFill>
                  <a:srgbClr val="2B2B2B"/>
                </a:solidFill>
                <a:latin typeface="Calibri"/>
              </a:rPr>
              <a:t>Repositories map to SQLite local drivers (`money-manager.db`) or multi-user PostgreSQL services natively via standard interface 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F4E79"/>
                </a:solidFill>
                <a:latin typeface="Calibri"/>
              </a:defRPr>
            </a:pPr>
            <a:r>
              <a:t>3. SOLID Design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Single Responsibility (SRP): </a:t>
            </a:r>
            <a:r>
              <a:rPr b="0" sz="1600">
                <a:solidFill>
                  <a:srgbClr val="2B2B2B"/>
                </a:solidFill>
                <a:latin typeface="Calibri"/>
              </a:rPr>
              <a:t>Classes have one focus (e.g. AuthService parses credentials; JdbcBudgetRepo queries budget DB rows).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Open / Closed (OCP): </a:t>
            </a:r>
            <a:r>
              <a:rPr b="0" sz="1600">
                <a:solidFill>
                  <a:srgbClr val="2B2B2B"/>
                </a:solidFill>
                <a:latin typeface="Calibri"/>
              </a:rPr>
              <a:t>New reporting utilities or database connectors are added by declaring new classes, without editing core engines.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Liskov Substitution (LSP): </a:t>
            </a:r>
            <a:r>
              <a:rPr b="0" sz="1600">
                <a:solidFill>
                  <a:srgbClr val="2B2B2B"/>
                </a:solidFill>
                <a:latin typeface="Calibri"/>
              </a:rPr>
              <a:t>JdbcTransactionRepo implements ITransactionRepo, meaning it can be replaced by MockTransactionRepo without breaking services.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Interface Segregation (ISP): </a:t>
            </a:r>
            <a:r>
              <a:rPr b="0" sz="1600">
                <a:solidFill>
                  <a:srgbClr val="2B2B2B"/>
                </a:solidFill>
                <a:latin typeface="Calibri"/>
              </a:rPr>
              <a:t>Granular interfaces split data bounds: ITransactionRepo, IBudgetRepo, IGoalRepo, INoteRepo.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Dependency Inversion (DIP): </a:t>
            </a:r>
            <a:r>
              <a:rPr b="0" sz="1600">
                <a:solidFill>
                  <a:srgbClr val="2B2B2B"/>
                </a:solidFill>
                <a:latin typeface="Calibri"/>
              </a:rPr>
              <a:t>Services depend on abstractions (interfaces), wired at runtime via constructor dependency injection (enables JUnit test coverage).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F4E79"/>
                </a:solidFill>
                <a:latin typeface="Calibri"/>
              </a:defRPr>
            </a:pPr>
            <a:r>
              <a:t>4. Unified Relational Schema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Table: users — </a:t>
            </a:r>
            <a:r>
              <a:rPr b="0" sz="1600">
                <a:solidFill>
                  <a:srgbClr val="2B2B2B"/>
                </a:solidFill>
                <a:latin typeface="Calibri"/>
              </a:rPr>
              <a:t>Saves secure profile coordinates. Passwords are encrypted using modern BCrypt hashing routines.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Table: transactions — </a:t>
            </a:r>
            <a:r>
              <a:rPr b="0" sz="1600">
                <a:solidFill>
                  <a:srgbClr val="2B2B2B"/>
                </a:solidFill>
                <a:latin typeface="Calibri"/>
              </a:rPr>
              <a:t>Registers income and expense entries with title, positive amount (&gt; 0), category tag, and date.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Table: budgets — </a:t>
            </a:r>
            <a:r>
              <a:rPr b="0" sz="1600">
                <a:solidFill>
                  <a:srgbClr val="2B2B2B"/>
                </a:solidFill>
                <a:latin typeface="Calibri"/>
              </a:rPr>
              <a:t>Configures category-specific monthly spending caps. Enforces unique composite limits on user, category, and date.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Table: savings_goals &amp; goal_contributions — </a:t>
            </a:r>
            <a:r>
              <a:rPr b="0" sz="1600">
                <a:solidFill>
                  <a:srgbClr val="2B2B2B"/>
                </a:solidFill>
                <a:latin typeface="Calibri"/>
              </a:rPr>
              <a:t>Tracks milestone requirements, deadline alerts, contributions, and percentage completion bars.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Table: user_settings &amp; monthly_balance — </a:t>
            </a:r>
            <a:r>
              <a:rPr b="0" sz="1600">
                <a:solidFill>
                  <a:srgbClr val="2B2B2B"/>
                </a:solidFill>
                <a:latin typeface="Calibri"/>
              </a:rPr>
              <a:t>Tracks monthly target income indices and saves calculated monthly cash flows per profile.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F4E79"/>
                </a:solidFill>
                <a:latin typeface="Calibri"/>
              </a:defRPr>
            </a:pPr>
            <a:r>
              <a:t>5. Features &amp; Validation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Secure User Authentication: </a:t>
            </a:r>
            <a:r>
              <a:rPr b="0" sz="1600">
                <a:solidFill>
                  <a:srgbClr val="2B2B2B"/>
                </a:solidFill>
                <a:latin typeface="Calibri"/>
              </a:rPr>
              <a:t>Desktop security answers and web password verifications execute safely using BCrypt wrappers.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Real-Time Spending Indicators: </a:t>
            </a:r>
            <a:r>
              <a:rPr b="0" sz="1600">
                <a:solidFill>
                  <a:srgbClr val="2B2B2B"/>
                </a:solidFill>
                <a:latin typeface="Calibri"/>
              </a:rPr>
              <a:t>UI progress bars automatically highlight alerts: green (&lt;80%), amber warning (80-99%), and red indicator (&gt;=100% budget breach).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Transaction Input Validations: </a:t>
            </a:r>
            <a:r>
              <a:rPr b="0" sz="1600">
                <a:solidFill>
                  <a:srgbClr val="2B2B2B"/>
                </a:solidFill>
                <a:latin typeface="Calibri"/>
              </a:rPr>
              <a:t>Service layer ensures transaction amounts are positive and dates do not occur in the future.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Visual Graphical Analytics: </a:t>
            </a:r>
            <a:r>
              <a:rPr b="0" sz="1600">
                <a:solidFill>
                  <a:srgbClr val="2B2B2B"/>
                </a:solidFill>
                <a:latin typeface="Calibri"/>
              </a:rPr>
              <a:t>Pie charts render categorical expense breakdowns and Bar charts display monthly net cash flow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F4E79"/>
                </a:solidFill>
                <a:latin typeface="Calibri"/>
              </a:defRPr>
            </a:pPr>
            <a:r>
              <a:t>6. Future 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Cross-Platform Mobile Clients: </a:t>
            </a:r>
            <a:r>
              <a:rPr b="0" sz="1600">
                <a:solidFill>
                  <a:srgbClr val="2B2B2B"/>
                </a:solidFill>
                <a:latin typeface="Calibri"/>
              </a:rPr>
              <a:t>Build reactive mobile frontends using Flutter or React Native mapping to shared backend business API controllers.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Cloud Backup Synchronizer: </a:t>
            </a:r>
            <a:r>
              <a:rPr b="0" sz="1600">
                <a:solidFill>
                  <a:srgbClr val="2B2B2B"/>
                </a:solidFill>
                <a:latin typeface="Calibri"/>
              </a:rPr>
              <a:t>Introduce connection layers securely pushing local SQLite records to hosted AWS RDS PostgreSQL databases.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AI-Powered Budget Coaching: </a:t>
            </a:r>
            <a:r>
              <a:rPr b="0" sz="1600">
                <a:solidFill>
                  <a:srgbClr val="2B2B2B"/>
                </a:solidFill>
                <a:latin typeface="Calibri"/>
              </a:rPr>
              <a:t>Deploy localized ML models evaluating transactions to suggest savings goals and flag anomalous expenditures.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2F5597"/>
                </a:solidFill>
                <a:latin typeface="Calibri"/>
              </a:rPr>
              <a:t>Document Export Engine: </a:t>
            </a:r>
            <a:r>
              <a:rPr b="0" sz="1600">
                <a:solidFill>
                  <a:srgbClr val="2B2B2B"/>
                </a:solidFill>
                <a:latin typeface="Calibri"/>
              </a:rPr>
              <a:t>Add PDF bank statements generated via OpenPDF and pre-formulated Excel reports compiled via Apache POI.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